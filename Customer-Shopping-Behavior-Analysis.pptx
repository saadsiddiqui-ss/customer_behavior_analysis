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1695" cy="6858000"/>
  <p:notesSz cx="6858000" cy="12191695"/>
  <p:embeddedFontLst>
    <p:embeddedFont>
      <p:font typeface="Gelasio"/>
      <p:regular r:id="rId201314"/>
    </p:embeddedFont>
    <p:embeddedFont>
      <p:font typeface="Gelasio Bold"/>
      <p:regular r:id="rId201315"/>
    </p:embeddedFont>
    <p:embeddedFont>
      <p:font typeface="Lato"/>
      <p:regular r:id="rId201316"/>
    </p:embeddedFont>
    <p:embeddedFont>
      <p:font typeface="Lato Bold"/>
      <p:regular r:id="rId201317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jpeg"/><Relationship Id="rId2" Type="http://schemas.openxmlformats.org/officeDocument/2006/relationships/image" Target="../media/image-1002-2.png"/><Relationship Id="rId4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image" Target="../media/image-3-2.png"/><Relationship Id="rId3" Type="http://schemas.openxmlformats.org/officeDocument/2006/relationships/image" Target="../media/image-3-3.svg"/><Relationship Id="rId4" Type="http://schemas.openxmlformats.org/officeDocument/2006/relationships/image" Target="../media/image-3-2.png"/><Relationship Id="rId5" Type="http://schemas.openxmlformats.org/officeDocument/2006/relationships/image" Target="../media/image-3-3.svg"/><Relationship Id="rId6" Type="http://schemas.openxmlformats.org/officeDocument/2006/relationships/image" Target="../media/image-3-6.png"/><Relationship Id="rId7" Type="http://schemas.openxmlformats.org/officeDocument/2006/relationships/image" Target="../media/image-3-7.svg"/><Relationship Id="rId8" Type="http://schemas.openxmlformats.org/officeDocument/2006/relationships/image" Target="../media/image-3-2.png"/><Relationship Id="rId9" Type="http://schemas.openxmlformats.org/officeDocument/2006/relationships/image" Target="../media/image-3-3.svg"/><Relationship Id="rId10" Type="http://schemas.openxmlformats.org/officeDocument/2006/relationships/slideLayout" Target="../slideLayouts/slideLayout2.xml"/><Relationship Id="rId11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image" Target="../media/image-8-2.jpeg"/><Relationship Id="rId3" Type="http://schemas.openxmlformats.org/officeDocument/2006/relationships/image" Target="../media/image-8-3.jpeg"/><Relationship Id="rId4" Type="http://schemas.openxmlformats.org/officeDocument/2006/relationships/image" Target="../media/image-8-4.jpe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svg"/><Relationship Id="rId3" Type="http://schemas.openxmlformats.org/officeDocument/2006/relationships/image" Target="../media/image-10-3.png"/><Relationship Id="rId4" Type="http://schemas.openxmlformats.org/officeDocument/2006/relationships/image" Target="../media/image-10-4.svg"/><Relationship Id="rId5" Type="http://schemas.openxmlformats.org/officeDocument/2006/relationships/image" Target="../media/image-10-5.png"/><Relationship Id="rId6" Type="http://schemas.openxmlformats.org/officeDocument/2006/relationships/image" Target="../media/image-10-6.svg"/><Relationship Id="rId7" Type="http://schemas.openxmlformats.org/officeDocument/2006/relationships/image" Target="../media/image-10-7.png"/><Relationship Id="rId8" Type="http://schemas.openxmlformats.org/officeDocument/2006/relationships/image" Target="../media/image-10-8.svg"/><Relationship Id="rId9" Type="http://schemas.openxmlformats.org/officeDocument/2006/relationships/image" Target="../media/image-10-9.png"/><Relationship Id="rId10" Type="http://schemas.openxmlformats.org/officeDocument/2006/relationships/image" Target="../media/image-10-10.svg"/><Relationship Id="rId11" Type="http://schemas.openxmlformats.org/officeDocument/2006/relationships/slideLayout" Target="../slideLayouts/slideLayout2.xml"/><Relationship Id="rId1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1475" y="2242939"/>
            <a:ext cx="6296860" cy="11812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312F2B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Customer Shopping Behavior Analysis</a:t>
            </a:r>
            <a:endParaRPr lang="en-US" sz="3700" dirty="0"/>
          </a:p>
        </p:txBody>
      </p:sp>
      <p:sp>
        <p:nvSpPr>
          <p:cNvPr id="4" name="Text 1"/>
          <p:cNvSpPr/>
          <p:nvPr/>
        </p:nvSpPr>
        <p:spPr>
          <a:xfrm>
            <a:off x="661475" y="3707705"/>
            <a:ext cx="6296860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Uncovering spending patterns, customer segments, product preferences, and subscription behavior from </a:t>
            </a:r>
            <a:pPr algn="l" indent="0" marL="0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27252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3,900 transactions</a:t>
            </a:r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across multiple product categories.</a:t>
            </a:r>
            <a:endParaRPr lang="en-US" sz="14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1475" y="577453"/>
            <a:ext cx="6296860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312F2B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Dataset at a Glance</a:t>
            </a:r>
            <a:endParaRPr lang="en-US" sz="3700" dirty="0"/>
          </a:p>
        </p:txBody>
      </p:sp>
      <p:sp>
        <p:nvSpPr>
          <p:cNvPr id="4" name="Text 1"/>
          <p:cNvSpPr/>
          <p:nvPr/>
        </p:nvSpPr>
        <p:spPr>
          <a:xfrm>
            <a:off x="661475" y="1546027"/>
            <a:ext cx="3030263" cy="623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490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3,900</a:t>
            </a:r>
            <a:endParaRPr lang="en-US" sz="4900" dirty="0"/>
          </a:p>
        </p:txBody>
      </p:sp>
      <p:sp>
        <p:nvSpPr>
          <p:cNvPr id="5" name="Text 2"/>
          <p:cNvSpPr/>
          <p:nvPr/>
        </p:nvSpPr>
        <p:spPr>
          <a:xfrm>
            <a:off x="661475" y="2405955"/>
            <a:ext cx="3030263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Transactions</a:t>
            </a:r>
            <a:endParaRPr lang="en-US" sz="1850" dirty="0"/>
          </a:p>
        </p:txBody>
      </p:sp>
      <p:sp>
        <p:nvSpPr>
          <p:cNvPr id="6" name="Text 3"/>
          <p:cNvSpPr/>
          <p:nvPr/>
        </p:nvSpPr>
        <p:spPr>
          <a:xfrm>
            <a:off x="661475" y="2814638"/>
            <a:ext cx="3030263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Rows in the dataset</a:t>
            </a:r>
            <a:endParaRPr lang="en-US" sz="1450" dirty="0"/>
          </a:p>
        </p:txBody>
      </p:sp>
      <p:sp>
        <p:nvSpPr>
          <p:cNvPr id="7" name="Text 4"/>
          <p:cNvSpPr/>
          <p:nvPr/>
        </p:nvSpPr>
        <p:spPr>
          <a:xfrm>
            <a:off x="3927972" y="1546027"/>
            <a:ext cx="3030362" cy="623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490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18</a:t>
            </a:r>
            <a:endParaRPr lang="en-US" sz="4900" dirty="0"/>
          </a:p>
        </p:txBody>
      </p:sp>
      <p:sp>
        <p:nvSpPr>
          <p:cNvPr id="8" name="Text 5"/>
          <p:cNvSpPr/>
          <p:nvPr/>
        </p:nvSpPr>
        <p:spPr>
          <a:xfrm>
            <a:off x="3927972" y="2405955"/>
            <a:ext cx="3030362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Columns</a:t>
            </a:r>
            <a:endParaRPr lang="en-US" sz="1850" dirty="0"/>
          </a:p>
        </p:txBody>
      </p:sp>
      <p:sp>
        <p:nvSpPr>
          <p:cNvPr id="9" name="Text 6"/>
          <p:cNvSpPr/>
          <p:nvPr/>
        </p:nvSpPr>
        <p:spPr>
          <a:xfrm>
            <a:off x="3927972" y="2814638"/>
            <a:ext cx="3030362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Features tracked</a:t>
            </a:r>
            <a:endParaRPr lang="en-US" sz="1450" dirty="0"/>
          </a:p>
        </p:txBody>
      </p:sp>
      <p:sp>
        <p:nvSpPr>
          <p:cNvPr id="10" name="Text 7"/>
          <p:cNvSpPr/>
          <p:nvPr/>
        </p:nvSpPr>
        <p:spPr>
          <a:xfrm>
            <a:off x="2294674" y="3589536"/>
            <a:ext cx="3030362" cy="623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490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37</a:t>
            </a:r>
            <a:endParaRPr lang="en-US" sz="4900" dirty="0"/>
          </a:p>
        </p:txBody>
      </p:sp>
      <p:sp>
        <p:nvSpPr>
          <p:cNvPr id="11" name="Text 8"/>
          <p:cNvSpPr/>
          <p:nvPr/>
        </p:nvSpPr>
        <p:spPr>
          <a:xfrm>
            <a:off x="2294674" y="4449465"/>
            <a:ext cx="3030362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Missing Values</a:t>
            </a:r>
            <a:endParaRPr lang="en-US" sz="1850" dirty="0"/>
          </a:p>
        </p:txBody>
      </p:sp>
      <p:sp>
        <p:nvSpPr>
          <p:cNvPr id="12" name="Text 9"/>
          <p:cNvSpPr/>
          <p:nvPr/>
        </p:nvSpPr>
        <p:spPr>
          <a:xfrm>
            <a:off x="2294674" y="4858147"/>
            <a:ext cx="3030362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In Review Rating only</a:t>
            </a:r>
            <a:endParaRPr lang="en-US" sz="1450" dirty="0"/>
          </a:p>
        </p:txBody>
      </p:sp>
      <p:sp>
        <p:nvSpPr>
          <p:cNvPr id="13" name="Text 10"/>
          <p:cNvSpPr/>
          <p:nvPr/>
        </p:nvSpPr>
        <p:spPr>
          <a:xfrm>
            <a:off x="661475" y="5373191"/>
            <a:ext cx="6296860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Key features span </a:t>
            </a:r>
            <a:pPr algn="l" indent="0" marL="0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27252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demographics</a:t>
            </a:r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(Age, Gender, Location, Subscription), </a:t>
            </a:r>
            <a:pPr algn="l" indent="0" marL="0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27252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purchase details</a:t>
            </a:r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(Item, Category, Amount, Season), and </a:t>
            </a:r>
            <a:pPr algn="l" indent="0" marL="0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27252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shopping behavior</a:t>
            </a:r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(Discount, Promo Code, Frequency, Review Rating, Shipping Type).</a:t>
            </a:r>
            <a:endParaRPr lang="en-US" sz="14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80926"/>
            <a:ext cx="10868745" cy="4522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800" dirty="0">
                <a:solidFill>
                  <a:srgbClr val="312F2B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Exploratory Data Analysis in Python</a:t>
            </a:r>
            <a:endParaRPr lang="en-US" sz="28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1771452"/>
            <a:ext cx="6941071" cy="3933329"/>
          </a:xfrm>
          <a:prstGeom prst="rect">
            <a:avLst/>
          </a:prstGeom>
        </p:spPr>
      </p:pic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961907" y="1323975"/>
            <a:ext cx="3574564" cy="1072952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8201812" y="1487686"/>
            <a:ext cx="3170952" cy="226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0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Data Loading &amp; Exploration</a:t>
            </a:r>
            <a:endParaRPr lang="en-US" sz="1400" dirty="0"/>
          </a:p>
        </p:txBody>
      </p:sp>
      <p:sp>
        <p:nvSpPr>
          <p:cNvPr id="6" name="Text 2"/>
          <p:cNvSpPr/>
          <p:nvPr/>
        </p:nvSpPr>
        <p:spPr>
          <a:xfrm>
            <a:off x="8201812" y="1824434"/>
            <a:ext cx="3170952" cy="4087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Imported via </a:t>
            </a:r>
            <a:pPr algn="l"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pandas</a:t>
            </a:r>
            <a:pPr algn="l"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; used </a:t>
            </a:r>
            <a:pPr algn="l"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df.info()</a:t>
            </a:r>
            <a:pPr algn="l"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and </a:t>
            </a:r>
            <a:pPr algn="l"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.describe()</a:t>
            </a:r>
            <a:pPr algn="l"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for structure and summary statistics.</a:t>
            </a:r>
            <a:endParaRPr lang="en-US" sz="110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961907" y="2507655"/>
            <a:ext cx="3574564" cy="1072952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8201812" y="2671366"/>
            <a:ext cx="3170952" cy="226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0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Missing Data Handling</a:t>
            </a:r>
            <a:endParaRPr lang="en-US" sz="1400" dirty="0"/>
          </a:p>
        </p:txBody>
      </p:sp>
      <p:sp>
        <p:nvSpPr>
          <p:cNvPr id="9" name="Text 4"/>
          <p:cNvSpPr/>
          <p:nvPr/>
        </p:nvSpPr>
        <p:spPr>
          <a:xfrm>
            <a:off x="8201812" y="3008114"/>
            <a:ext cx="3170952" cy="4087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Imputed missing </a:t>
            </a:r>
            <a:pPr algn="l"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Review Rating</a:t>
            </a:r>
            <a:pPr algn="l"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values using the median rating per product category.</a:t>
            </a:r>
            <a:endParaRPr lang="en-US" sz="110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961907" y="3691334"/>
            <a:ext cx="3574564" cy="1277342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8201812" y="3855045"/>
            <a:ext cx="3170952" cy="226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0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Feature Engineering</a:t>
            </a:r>
            <a:endParaRPr lang="en-US" sz="1400" dirty="0"/>
          </a:p>
        </p:txBody>
      </p:sp>
      <p:sp>
        <p:nvSpPr>
          <p:cNvPr id="12" name="Text 6"/>
          <p:cNvSpPr/>
          <p:nvPr/>
        </p:nvSpPr>
        <p:spPr>
          <a:xfrm>
            <a:off x="8201812" y="4191794"/>
            <a:ext cx="3170952" cy="6131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Created </a:t>
            </a:r>
            <a:pPr algn="l"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age_group</a:t>
            </a:r>
            <a:pPr algn="l"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(binned ages) and </a:t>
            </a:r>
            <a:pPr algn="l"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purchase_frequency_days</a:t>
            </a:r>
            <a:pPr algn="l"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; dropped redundant </a:t>
            </a:r>
            <a:pPr algn="l"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promo_code_used</a:t>
            </a:r>
            <a:pPr algn="l"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.</a:t>
            </a:r>
            <a:endParaRPr lang="en-US" sz="1100" dirty="0"/>
          </a:p>
        </p:txBody>
      </p:sp>
      <p:pic>
        <p:nvPicPr>
          <p:cNvPr id="13" name="Image 4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7961907" y="5079405"/>
            <a:ext cx="3574564" cy="1072952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8201812" y="5243116"/>
            <a:ext cx="3170952" cy="226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0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Database Integration</a:t>
            </a:r>
            <a:endParaRPr lang="en-US" sz="1400" dirty="0"/>
          </a:p>
        </p:txBody>
      </p:sp>
      <p:sp>
        <p:nvSpPr>
          <p:cNvPr id="15" name="Text 8"/>
          <p:cNvSpPr/>
          <p:nvPr/>
        </p:nvSpPr>
        <p:spPr>
          <a:xfrm>
            <a:off x="8201812" y="5579864"/>
            <a:ext cx="3170952" cy="4087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Loaded cleaned DataFrame into </a:t>
            </a:r>
            <a:pPr algn="l" indent="0" marL="0">
              <a:lnSpc>
                <a:spcPct val="118000"/>
              </a:lnSpc>
              <a:buNone/>
            </a:pPr>
            <a:r>
              <a:rPr lang="en-US" sz="1100" b="1" dirty="0">
                <a:solidFill>
                  <a:srgbClr val="27252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PostgreSQL</a:t>
            </a:r>
            <a:pPr algn="l"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for SQL-based analysis.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906363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312F2B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Revenue &amp; Spending Insights</a:t>
            </a:r>
            <a:endParaRPr lang="en-US" sz="37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1993106"/>
            <a:ext cx="5203794" cy="374580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332776" y="1969492"/>
            <a:ext cx="520379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312F2B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Revenue by Gender</a:t>
            </a:r>
            <a:endParaRPr lang="en-US" sz="1850" dirty="0"/>
          </a:p>
        </p:txBody>
      </p:sp>
      <p:sp>
        <p:nvSpPr>
          <p:cNvPr id="5" name="Text 2"/>
          <p:cNvSpPr/>
          <p:nvPr/>
        </p:nvSpPr>
        <p:spPr>
          <a:xfrm>
            <a:off x="6332776" y="2453779"/>
            <a:ext cx="5203794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Male customers generated </a:t>
            </a:r>
            <a:pPr algn="l" indent="0" marL="0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27252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$157,890</a:t>
            </a:r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in revenue — more than double the </a:t>
            </a:r>
            <a:pPr algn="l" indent="0" marL="0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27252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$75,191</a:t>
            </a:r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from female customers.</a:t>
            </a:r>
            <a:endParaRPr lang="en-US" sz="1450" dirty="0"/>
          </a:p>
        </p:txBody>
      </p:sp>
      <p:sp>
        <p:nvSpPr>
          <p:cNvPr id="6" name="Text 3"/>
          <p:cNvSpPr/>
          <p:nvPr/>
        </p:nvSpPr>
        <p:spPr>
          <a:xfrm>
            <a:off x="6332776" y="3247628"/>
            <a:ext cx="520379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312F2B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Shipping Type Comparison</a:t>
            </a:r>
            <a:endParaRPr lang="en-US" sz="1850" dirty="0"/>
          </a:p>
        </p:txBody>
      </p:sp>
      <p:sp>
        <p:nvSpPr>
          <p:cNvPr id="7" name="Text 4"/>
          <p:cNvSpPr/>
          <p:nvPr/>
        </p:nvSpPr>
        <p:spPr>
          <a:xfrm>
            <a:off x="6332776" y="3731915"/>
            <a:ext cx="5203794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Express shipping averaged </a:t>
            </a:r>
            <a:pPr algn="l" indent="0" marL="0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27252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$60.48</a:t>
            </a:r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per order vs. </a:t>
            </a:r>
            <a:pPr algn="l" indent="0" marL="0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27252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$58.46</a:t>
            </a:r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for Standard — a modest but consistent premium.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6332776" y="4525764"/>
            <a:ext cx="520379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312F2B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High-Spending Discount Users</a:t>
            </a:r>
            <a:endParaRPr lang="en-US" sz="1850" dirty="0"/>
          </a:p>
        </p:txBody>
      </p:sp>
      <p:sp>
        <p:nvSpPr>
          <p:cNvPr id="9" name="Text 6"/>
          <p:cNvSpPr/>
          <p:nvPr/>
        </p:nvSpPr>
        <p:spPr>
          <a:xfrm>
            <a:off x="6332776" y="5010051"/>
            <a:ext cx="5203794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27252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839 customers</a:t>
            </a:r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used discounts yet still spent above the average purchase amount.</a:t>
            </a:r>
            <a:endParaRPr lang="en-US" sz="14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43024"/>
            <a:ext cx="10868745" cy="4891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050" dirty="0">
                <a:solidFill>
                  <a:srgbClr val="312F2B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Subscribers vs. Non-Subscribers</a:t>
            </a:r>
            <a:endParaRPr lang="en-US" sz="30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1372295"/>
            <a:ext cx="5243481" cy="37743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293089" y="1343124"/>
            <a:ext cx="5243481" cy="4577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20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Subscribers represent only </a:t>
            </a:r>
            <a:pPr algn="l" indent="0" marL="0">
              <a:lnSpc>
                <a:spcPct val="122000"/>
              </a:lnSpc>
              <a:buNone/>
            </a:pPr>
            <a:r>
              <a:rPr lang="en-US" sz="1200" b="1" dirty="0">
                <a:solidFill>
                  <a:srgbClr val="27252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27%</a:t>
            </a:r>
            <a:pPr algn="l" indent="0" marL="0">
              <a:lnSpc>
                <a:spcPct val="122000"/>
              </a:lnSpc>
              <a:buNone/>
            </a:pPr>
            <a:r>
              <a:rPr lang="en-US" sz="120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of customers but show strong repeat-purchase potential — </a:t>
            </a:r>
            <a:pPr algn="l" indent="0" marL="0">
              <a:lnSpc>
                <a:spcPct val="122000"/>
              </a:lnSpc>
              <a:buNone/>
            </a:pPr>
            <a:r>
              <a:rPr lang="en-US" sz="1200" b="1" dirty="0">
                <a:solidFill>
                  <a:srgbClr val="27252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958</a:t>
            </a:r>
            <a:pPr algn="l" indent="0" marL="0">
              <a:lnSpc>
                <a:spcPct val="122000"/>
              </a:lnSpc>
              <a:buNone/>
            </a:pPr>
            <a:r>
              <a:rPr lang="en-US" sz="120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repeat buyers (5+ purchases) are subscribers.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661475" y="5438180"/>
            <a:ext cx="5369584" cy="876796"/>
          </a:xfrm>
          <a:prstGeom prst="roundRect">
            <a:avLst>
              <a:gd name="adj" fmla="val 7498"/>
            </a:avLst>
          </a:prstGeom>
          <a:solidFill>
            <a:srgbClr val="E8E8E3"/>
          </a:solidFill>
          <a:ln w="6350">
            <a:solidFill>
              <a:srgbClr val="CECEC9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24289" y="5600998"/>
            <a:ext cx="5043957" cy="2445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0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Non-Subscribers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824289" y="5923260"/>
            <a:ext cx="5043957" cy="2288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20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2,847 customers · Avg spend </a:t>
            </a:r>
            <a:pPr algn="l" indent="0" marL="0">
              <a:lnSpc>
                <a:spcPct val="122000"/>
              </a:lnSpc>
              <a:buNone/>
            </a:pPr>
            <a:r>
              <a:rPr lang="en-US" sz="1200" b="1" dirty="0">
                <a:solidFill>
                  <a:srgbClr val="27252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$59.87</a:t>
            </a:r>
            <a:pPr algn="l" indent="0" marL="0">
              <a:lnSpc>
                <a:spcPct val="122000"/>
              </a:lnSpc>
              <a:buNone/>
            </a:pPr>
            <a:r>
              <a:rPr lang="en-US" sz="120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· Total revenue </a:t>
            </a:r>
            <a:pPr algn="l" indent="0" marL="0">
              <a:lnSpc>
                <a:spcPct val="122000"/>
              </a:lnSpc>
              <a:buNone/>
            </a:pPr>
            <a:r>
              <a:rPr lang="en-US" sz="1200" b="1" dirty="0">
                <a:solidFill>
                  <a:srgbClr val="27252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$170,436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6160636" y="5438180"/>
            <a:ext cx="5369584" cy="876796"/>
          </a:xfrm>
          <a:prstGeom prst="roundRect">
            <a:avLst>
              <a:gd name="adj" fmla="val 7498"/>
            </a:avLst>
          </a:prstGeom>
          <a:solidFill>
            <a:srgbClr val="E8E8E3"/>
          </a:solidFill>
          <a:ln w="6350">
            <a:solidFill>
              <a:srgbClr val="CECEC9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323450" y="5600998"/>
            <a:ext cx="5043957" cy="2445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0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Subscribers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6323450" y="5923260"/>
            <a:ext cx="5043957" cy="2288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20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1,053 customers · Avg spend </a:t>
            </a:r>
            <a:pPr algn="l" indent="0" marL="0">
              <a:lnSpc>
                <a:spcPct val="122000"/>
              </a:lnSpc>
              <a:buNone/>
            </a:pPr>
            <a:r>
              <a:rPr lang="en-US" sz="1200" b="1" dirty="0">
                <a:solidFill>
                  <a:srgbClr val="27252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$59.49</a:t>
            </a:r>
            <a:pPr algn="l" indent="0" marL="0">
              <a:lnSpc>
                <a:spcPct val="122000"/>
              </a:lnSpc>
              <a:buNone/>
            </a:pPr>
            <a:r>
              <a:rPr lang="en-US" sz="120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· Total revenue </a:t>
            </a:r>
            <a:pPr algn="l" indent="0" marL="0">
              <a:lnSpc>
                <a:spcPct val="122000"/>
              </a:lnSpc>
              <a:buNone/>
            </a:pPr>
            <a:r>
              <a:rPr lang="en-US" sz="1200" b="1" dirty="0">
                <a:solidFill>
                  <a:srgbClr val="27252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$62,645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1475" y="562074"/>
            <a:ext cx="6296860" cy="10334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250" dirty="0">
                <a:solidFill>
                  <a:srgbClr val="312F2B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Top-Rated &amp; Discount-Dependent Products</a:t>
            </a:r>
            <a:endParaRPr lang="en-US" sz="3250" dirty="0"/>
          </a:p>
        </p:txBody>
      </p:sp>
      <p:sp>
        <p:nvSpPr>
          <p:cNvPr id="4" name="Shape 1"/>
          <p:cNvSpPr/>
          <p:nvPr/>
        </p:nvSpPr>
        <p:spPr>
          <a:xfrm>
            <a:off x="661475" y="1812528"/>
            <a:ext cx="6296860" cy="2169319"/>
          </a:xfrm>
          <a:prstGeom prst="roundRect">
            <a:avLst>
              <a:gd name="adj" fmla="val 3202"/>
            </a:avLst>
          </a:prstGeom>
          <a:solidFill>
            <a:srgbClr val="FFFFFF">
              <a:alpha val="95000"/>
            </a:srgbClr>
          </a:solidFill>
          <a:ln w="19050">
            <a:solidFill>
              <a:srgbClr val="CECEC9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845819" y="1996877"/>
            <a:ext cx="5928172" cy="271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Noto Color Emoji" pitchFamily="34" charset="0"/>
                <a:ea typeface="Noto Color Emoji" pitchFamily="34" charset="-122"/>
                <a:cs typeface="Noto Color Emoji" pitchFamily="34" charset="-120"/>
              </a:rPr>
              <a:t>⭐</a:t>
            </a:r>
            <a:pPr algn="l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 Top 5 by Rating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845819" y="2354858"/>
            <a:ext cx="5928172" cy="1442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64160" indent="-264160">
              <a:lnSpc>
                <a:spcPct val="125000"/>
              </a:lnSpc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Gloves — 3.86</a:t>
            </a:r>
            <a:endParaRPr lang="en-US" sz="1300" dirty="0"/>
          </a:p>
          <a:p>
            <a:pPr algn="l" marL="264160" indent="-264160">
              <a:lnSpc>
                <a:spcPct val="125000"/>
              </a:lnSpc>
              <a:buSzPct val="100000"/>
              <a:buFont typeface="+mj-lt"/>
              <a:buAutoNum type="arabicPeriod" startAt="2"/>
            </a:pPr>
            <a:r>
              <a:rPr lang="en-US" sz="130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Sandals — 3.84</a:t>
            </a:r>
            <a:endParaRPr lang="en-US" sz="1300" dirty="0"/>
          </a:p>
          <a:p>
            <a:pPr algn="l" marL="264160" indent="-264160">
              <a:lnSpc>
                <a:spcPct val="125000"/>
              </a:lnSpc>
              <a:buSzPct val="100000"/>
              <a:buFont typeface="+mj-lt"/>
              <a:buAutoNum type="arabicPeriod" startAt="3"/>
            </a:pPr>
            <a:r>
              <a:rPr lang="en-US" sz="130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Boots — 3.82</a:t>
            </a:r>
            <a:endParaRPr lang="en-US" sz="1300" dirty="0"/>
          </a:p>
          <a:p>
            <a:pPr algn="l" marL="264160" indent="-264160">
              <a:lnSpc>
                <a:spcPct val="125000"/>
              </a:lnSpc>
              <a:buSzPct val="100000"/>
              <a:buFont typeface="+mj-lt"/>
              <a:buAutoNum type="arabicPeriod" startAt="4"/>
            </a:pPr>
            <a:r>
              <a:rPr lang="en-US" sz="130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Hat — 3.80</a:t>
            </a:r>
            <a:endParaRPr lang="en-US" sz="1300" dirty="0"/>
          </a:p>
          <a:p>
            <a:pPr algn="l" marL="264160" indent="-264160">
              <a:lnSpc>
                <a:spcPct val="125000"/>
              </a:lnSpc>
              <a:buSzPct val="100000"/>
              <a:buFont typeface="+mj-lt"/>
              <a:buAutoNum type="arabicPeriod" startAt="5"/>
            </a:pPr>
            <a:r>
              <a:rPr lang="en-US" sz="130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Skirt — 3.78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661475" y="4126508"/>
            <a:ext cx="6296860" cy="2169319"/>
          </a:xfrm>
          <a:prstGeom prst="roundRect">
            <a:avLst>
              <a:gd name="adj" fmla="val 3202"/>
            </a:avLst>
          </a:prstGeom>
          <a:solidFill>
            <a:srgbClr val="FFFFFF">
              <a:alpha val="95000"/>
            </a:srgbClr>
          </a:solidFill>
          <a:ln w="19050">
            <a:solidFill>
              <a:srgbClr val="CECEC9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45819" y="4310856"/>
            <a:ext cx="5928172" cy="271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Noto Color Emoji" pitchFamily="34" charset="0"/>
                <a:ea typeface="Noto Color Emoji" pitchFamily="34" charset="-122"/>
                <a:cs typeface="Noto Color Emoji" pitchFamily="34" charset="-120"/>
              </a:rPr>
              <a:t>🏷️</a:t>
            </a:r>
            <a:pPr algn="l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 Most Discounted Products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45819" y="4668838"/>
            <a:ext cx="5928172" cy="1442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64160" indent="-264160">
              <a:lnSpc>
                <a:spcPct val="125000"/>
              </a:lnSpc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Hat — 50.00% discount rate</a:t>
            </a:r>
            <a:endParaRPr lang="en-US" sz="1300" dirty="0"/>
          </a:p>
          <a:p>
            <a:pPr algn="l" marL="264160" indent="-264160">
              <a:lnSpc>
                <a:spcPct val="125000"/>
              </a:lnSpc>
              <a:buSzPct val="100000"/>
              <a:buFont typeface="+mj-lt"/>
              <a:buAutoNum type="arabicPeriod" startAt="2"/>
            </a:pPr>
            <a:r>
              <a:rPr lang="en-US" sz="130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Sneakers — 49.66%</a:t>
            </a:r>
            <a:endParaRPr lang="en-US" sz="1300" dirty="0"/>
          </a:p>
          <a:p>
            <a:pPr algn="l" marL="264160" indent="-264160">
              <a:lnSpc>
                <a:spcPct val="125000"/>
              </a:lnSpc>
              <a:buSzPct val="100000"/>
              <a:buFont typeface="+mj-lt"/>
              <a:buAutoNum type="arabicPeriod" startAt="3"/>
            </a:pPr>
            <a:r>
              <a:rPr lang="en-US" sz="130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Coat — 49.07%</a:t>
            </a:r>
            <a:endParaRPr lang="en-US" sz="1300" dirty="0"/>
          </a:p>
          <a:p>
            <a:pPr algn="l" marL="264160" indent="-264160">
              <a:lnSpc>
                <a:spcPct val="125000"/>
              </a:lnSpc>
              <a:buSzPct val="100000"/>
              <a:buFont typeface="+mj-lt"/>
              <a:buAutoNum type="arabicPeriod" startAt="4"/>
            </a:pPr>
            <a:r>
              <a:rPr lang="en-US" sz="130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Sweater — 48.17%</a:t>
            </a:r>
            <a:endParaRPr lang="en-US" sz="1300" dirty="0"/>
          </a:p>
          <a:p>
            <a:pPr algn="l" marL="264160" indent="-264160">
              <a:lnSpc>
                <a:spcPct val="125000"/>
              </a:lnSpc>
              <a:buSzPct val="100000"/>
              <a:buFont typeface="+mj-lt"/>
              <a:buAutoNum type="arabicPeriod" startAt="5"/>
            </a:pPr>
            <a:r>
              <a:rPr lang="en-US" sz="130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Pants — 47.37%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906363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312F2B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Customer Segmentation</a:t>
            </a:r>
            <a:endParaRPr lang="en-US" sz="37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1993106"/>
            <a:ext cx="5203794" cy="374580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332776" y="1969492"/>
            <a:ext cx="520379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312F2B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Segment Breakdown</a:t>
            </a:r>
            <a:endParaRPr lang="en-US" sz="1850" dirty="0"/>
          </a:p>
        </p:txBody>
      </p:sp>
      <p:sp>
        <p:nvSpPr>
          <p:cNvPr id="5" name="Text 2"/>
          <p:cNvSpPr/>
          <p:nvPr/>
        </p:nvSpPr>
        <p:spPr>
          <a:xfrm>
            <a:off x="6332776" y="2453779"/>
            <a:ext cx="5813379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Customers classified by purchase history into three segments:</a:t>
            </a:r>
            <a:endParaRPr lang="en-US" sz="1450" dirty="0"/>
          </a:p>
        </p:txBody>
      </p:sp>
      <p:sp>
        <p:nvSpPr>
          <p:cNvPr id="6" name="Text 3"/>
          <p:cNvSpPr/>
          <p:nvPr/>
        </p:nvSpPr>
        <p:spPr>
          <a:xfrm>
            <a:off x="6332776" y="2926259"/>
            <a:ext cx="5203794" cy="10394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b="1" dirty="0">
                <a:solidFill>
                  <a:srgbClr val="27252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Loyal</a:t>
            </a:r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— 3,116 customers (dominant segment)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b="1" dirty="0">
                <a:solidFill>
                  <a:srgbClr val="27252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Returning</a:t>
            </a:r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— 701 customers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b="1" dirty="0">
                <a:solidFill>
                  <a:srgbClr val="27252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New</a:t>
            </a:r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— 83 customers (smallest, high-growth opportunity)</a:t>
            </a:r>
            <a:endParaRPr lang="en-US" sz="1450" dirty="0"/>
          </a:p>
        </p:txBody>
      </p:sp>
      <p:sp>
        <p:nvSpPr>
          <p:cNvPr id="7" name="Shape 4"/>
          <p:cNvSpPr/>
          <p:nvPr/>
        </p:nvSpPr>
        <p:spPr>
          <a:xfrm>
            <a:off x="6332776" y="4178300"/>
            <a:ext cx="5203794" cy="1341834"/>
          </a:xfrm>
          <a:prstGeom prst="roundRect">
            <a:avLst>
              <a:gd name="adj" fmla="val 5916"/>
            </a:avLst>
          </a:prstGeom>
          <a:solidFill>
            <a:srgbClr val="E8E8E3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21783" y="4471392"/>
            <a:ext cx="236234" cy="18901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947024" y="4395589"/>
            <a:ext cx="4400539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Of customers with 5+ purchases, </a:t>
            </a:r>
            <a:pPr algn="l" indent="0" marL="0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000000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958 are subscribers</a:t>
            </a:r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vs. 2,518 non-subscribers — a clear conversion opportunity.</a:t>
            </a:r>
            <a:endParaRPr lang="en-US" sz="14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757164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312F2B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Top Products by Category</a:t>
            </a:r>
            <a:endParaRPr lang="en-US" sz="37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2725837"/>
            <a:ext cx="1117572" cy="69066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61475" y="3652738"/>
            <a:ext cx="253993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Accessories</a:t>
            </a:r>
            <a:endParaRPr lang="en-US" sz="1850" dirty="0"/>
          </a:p>
        </p:txBody>
      </p:sp>
      <p:sp>
        <p:nvSpPr>
          <p:cNvPr id="5" name="Text 2"/>
          <p:cNvSpPr/>
          <p:nvPr/>
        </p:nvSpPr>
        <p:spPr>
          <a:xfrm>
            <a:off x="661475" y="4061420"/>
            <a:ext cx="2539936" cy="10394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94640" indent="-294640">
              <a:lnSpc>
                <a:spcPct val="133000"/>
              </a:lnSpc>
              <a:buSzPct val="100000"/>
              <a:buFont typeface="+mj-lt"/>
              <a:buAutoNum type="arabicPeriod" startAt="1"/>
            </a:pPr>
            <a:r>
              <a:rPr lang="en-US" sz="14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Jewelry — 171 orders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Font typeface="+mj-lt"/>
              <a:buAutoNum type="arabicPeriod" startAt="2"/>
            </a:pPr>
            <a:r>
              <a:rPr lang="en-US" sz="14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Sunglasses — 161 orders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Font typeface="+mj-lt"/>
              <a:buAutoNum type="arabicPeriod" startAt="3"/>
            </a:pPr>
            <a:r>
              <a:rPr lang="en-US" sz="14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Belt — 161 orders</a:t>
            </a:r>
            <a:endParaRPr lang="en-US" sz="145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37645" y="2725837"/>
            <a:ext cx="1117572" cy="690662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3437645" y="3652738"/>
            <a:ext cx="254003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Clothing</a:t>
            </a:r>
            <a:endParaRPr lang="en-US" sz="1850" dirty="0"/>
          </a:p>
        </p:txBody>
      </p:sp>
      <p:sp>
        <p:nvSpPr>
          <p:cNvPr id="8" name="Text 4"/>
          <p:cNvSpPr/>
          <p:nvPr/>
        </p:nvSpPr>
        <p:spPr>
          <a:xfrm>
            <a:off x="3437645" y="4061420"/>
            <a:ext cx="2540036" cy="10394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94640" indent="-294640">
              <a:lnSpc>
                <a:spcPct val="133000"/>
              </a:lnSpc>
              <a:buSzPct val="100000"/>
              <a:buFont typeface="+mj-lt"/>
              <a:buAutoNum type="arabicPeriod" startAt="1"/>
            </a:pPr>
            <a:r>
              <a:rPr lang="en-US" sz="14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Blouse — 171 orders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Font typeface="+mj-lt"/>
              <a:buAutoNum type="arabicPeriod" startAt="2"/>
            </a:pPr>
            <a:r>
              <a:rPr lang="en-US" sz="14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Pants — 171 orders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Font typeface="+mj-lt"/>
              <a:buAutoNum type="arabicPeriod" startAt="3"/>
            </a:pPr>
            <a:r>
              <a:rPr lang="en-US" sz="14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Shirt — 169 orders</a:t>
            </a:r>
            <a:endParaRPr lang="en-US" sz="14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3915" y="2725837"/>
            <a:ext cx="1117572" cy="690662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6213915" y="3652738"/>
            <a:ext cx="254003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Footwear</a:t>
            </a:r>
            <a:endParaRPr lang="en-US" sz="1850" dirty="0"/>
          </a:p>
        </p:txBody>
      </p:sp>
      <p:sp>
        <p:nvSpPr>
          <p:cNvPr id="11" name="Text 6"/>
          <p:cNvSpPr/>
          <p:nvPr/>
        </p:nvSpPr>
        <p:spPr>
          <a:xfrm>
            <a:off x="6213915" y="4061420"/>
            <a:ext cx="2540036" cy="10394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94640" indent="-294640">
              <a:lnSpc>
                <a:spcPct val="133000"/>
              </a:lnSpc>
              <a:buSzPct val="100000"/>
              <a:buFont typeface="+mj-lt"/>
              <a:buAutoNum type="arabicPeriod" startAt="1"/>
            </a:pPr>
            <a:r>
              <a:rPr lang="en-US" sz="14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Sandals — 160 orders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Font typeface="+mj-lt"/>
              <a:buAutoNum type="arabicPeriod" startAt="2"/>
            </a:pPr>
            <a:r>
              <a:rPr lang="en-US" sz="14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Shoes — 150 orders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Font typeface="+mj-lt"/>
              <a:buAutoNum type="arabicPeriod" startAt="3"/>
            </a:pPr>
            <a:r>
              <a:rPr lang="en-US" sz="14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Sneakers — 145 orders</a:t>
            </a:r>
            <a:endParaRPr lang="en-US" sz="145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90184" y="2725837"/>
            <a:ext cx="1117572" cy="690662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8990184" y="3652738"/>
            <a:ext cx="254003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Outerwear</a:t>
            </a:r>
            <a:endParaRPr lang="en-US" sz="1850" dirty="0"/>
          </a:p>
        </p:txBody>
      </p:sp>
      <p:sp>
        <p:nvSpPr>
          <p:cNvPr id="14" name="Text 8"/>
          <p:cNvSpPr/>
          <p:nvPr/>
        </p:nvSpPr>
        <p:spPr>
          <a:xfrm>
            <a:off x="8990184" y="4061420"/>
            <a:ext cx="2540036" cy="6709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94640" indent="-294640">
              <a:lnSpc>
                <a:spcPct val="133000"/>
              </a:lnSpc>
              <a:buSzPct val="100000"/>
              <a:buFont typeface="+mj-lt"/>
              <a:buAutoNum type="arabicPeriod" startAt="1"/>
            </a:pPr>
            <a:r>
              <a:rPr lang="en-US" sz="14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Jacket — 163 orders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Font typeface="+mj-lt"/>
              <a:buAutoNum type="arabicPeriod" startAt="2"/>
            </a:pPr>
            <a:r>
              <a:rPr lang="en-US" sz="14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Coat — 161 orders</a:t>
            </a:r>
            <a:endParaRPr lang="en-US" sz="14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906363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312F2B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Revenue by Age Group</a:t>
            </a:r>
            <a:endParaRPr lang="en-US" sz="37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1993106"/>
            <a:ext cx="5203794" cy="374580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332776" y="1969492"/>
            <a:ext cx="520379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312F2B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Key Takeaway</a:t>
            </a:r>
            <a:endParaRPr lang="en-US" sz="1850" dirty="0"/>
          </a:p>
        </p:txBody>
      </p:sp>
      <p:sp>
        <p:nvSpPr>
          <p:cNvPr id="5" name="Text 2"/>
          <p:cNvSpPr/>
          <p:nvPr/>
        </p:nvSpPr>
        <p:spPr>
          <a:xfrm>
            <a:off x="6332776" y="2453779"/>
            <a:ext cx="5203794" cy="16821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spcAft>
                <a:spcPts val="1300"/>
              </a:spcAft>
              <a:buNone/>
            </a:pPr>
            <a:r>
              <a:rPr lang="en-US" sz="1450" b="1" dirty="0">
                <a:solidFill>
                  <a:srgbClr val="27252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Young Adults</a:t>
            </a:r>
            <a:pPr algn="l" indent="0" marL="0">
              <a:lnSpc>
                <a:spcPct val="133000"/>
              </a:lnSpc>
              <a:spcAft>
                <a:spcPts val="1300"/>
              </a:spcAft>
              <a:buNone/>
            </a:pPr>
            <a:r>
              <a:rPr lang="en-US" sz="14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lead revenue at </a:t>
            </a:r>
            <a:pPr algn="l" indent="0" marL="0">
              <a:lnSpc>
                <a:spcPct val="133000"/>
              </a:lnSpc>
              <a:spcAft>
                <a:spcPts val="1300"/>
              </a:spcAft>
              <a:buNone/>
            </a:pPr>
            <a:r>
              <a:rPr lang="en-US" sz="1450" b="1" dirty="0">
                <a:solidFill>
                  <a:srgbClr val="27252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$62,143</a:t>
            </a:r>
            <a:pPr algn="l" indent="0" marL="0">
              <a:lnSpc>
                <a:spcPct val="133000"/>
              </a:lnSpc>
              <a:spcAft>
                <a:spcPts val="1300"/>
              </a:spcAft>
              <a:buNone/>
            </a:pPr>
            <a:r>
              <a:rPr lang="en-US" sz="14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, followed closely by Middle-aged (</a:t>
            </a:r>
            <a:pPr algn="l" indent="0" marL="0">
              <a:lnSpc>
                <a:spcPct val="133000"/>
              </a:lnSpc>
              <a:spcAft>
                <a:spcPts val="1300"/>
              </a:spcAft>
              <a:buNone/>
            </a:pPr>
            <a:r>
              <a:rPr lang="en-US" sz="1450" b="1" dirty="0">
                <a:solidFill>
                  <a:srgbClr val="27252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$59,197</a:t>
            </a:r>
            <a:pPr algn="l" indent="0" marL="0">
              <a:lnSpc>
                <a:spcPct val="133000"/>
              </a:lnSpc>
              <a:spcAft>
                <a:spcPts val="1300"/>
              </a:spcAft>
              <a:buNone/>
            </a:pPr>
            <a:r>
              <a:rPr lang="en-US" sz="14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). Revenue is relatively evenly distributed across all age groups, suggesting broad market appeal.</a:t>
            </a:r>
            <a:endParaRPr lang="en-US" sz="14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Sales volume mirrors revenue trends: Young Adult (900), Middle-aged (850), Senior (800), Adult (750).</a:t>
            </a:r>
            <a:endParaRPr lang="en-US" sz="14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58205"/>
            <a:ext cx="10868745" cy="5721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600" dirty="0">
                <a:solidFill>
                  <a:srgbClr val="312F2B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Power BI Dashboard &amp; Business Recommendations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61475" y="1485106"/>
            <a:ext cx="10868745" cy="5768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140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An interactive </a:t>
            </a:r>
            <a:pPr algn="l" indent="0" marL="0">
              <a:lnSpc>
                <a:spcPct val="131000"/>
              </a:lnSpc>
              <a:buNone/>
            </a:pPr>
            <a:r>
              <a:rPr lang="en-US" sz="1400" b="1" dirty="0">
                <a:solidFill>
                  <a:srgbClr val="27252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Power BI dashboard</a:t>
            </a:r>
            <a:pPr algn="l" indent="0" marL="0">
              <a:lnSpc>
                <a:spcPct val="131000"/>
              </a:lnSpc>
              <a:buNone/>
            </a:pPr>
            <a:r>
              <a:rPr lang="en-US" sz="140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visualizes all insights — 3.9K customers, $59.76 avg purchase, 3.75 avg rating — with filters for subscription, gender, category, and shipping.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61475" y="2261493"/>
            <a:ext cx="3504715" cy="2074664"/>
          </a:xfrm>
          <a:prstGeom prst="roundRect">
            <a:avLst>
              <a:gd name="adj" fmla="val 3707"/>
            </a:avLst>
          </a:prstGeom>
          <a:solidFill>
            <a:srgbClr val="E8E8E3"/>
          </a:solidFill>
          <a:ln w="6350">
            <a:solidFill>
              <a:srgbClr val="CECEC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50879" y="2450902"/>
            <a:ext cx="549261" cy="549275"/>
          </a:xfrm>
          <a:prstGeom prst="ellipse">
            <a:avLst/>
          </a:prstGeom>
          <a:solidFill>
            <a:srgbClr val="E5E5E0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01886" y="2601913"/>
            <a:ext cx="247148" cy="24715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50879" y="3177480"/>
            <a:ext cx="3125908" cy="2860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Boost Subscriptions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850879" y="3569891"/>
            <a:ext cx="3125908" cy="2884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140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Promote exclusive subscriber benefits.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343490" y="2261493"/>
            <a:ext cx="3504715" cy="2074664"/>
          </a:xfrm>
          <a:prstGeom prst="roundRect">
            <a:avLst>
              <a:gd name="adj" fmla="val 3707"/>
            </a:avLst>
          </a:prstGeom>
          <a:solidFill>
            <a:srgbClr val="E8E8E3"/>
          </a:solidFill>
          <a:ln w="6350">
            <a:solidFill>
              <a:srgbClr val="CECEC9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532894" y="2450902"/>
            <a:ext cx="549261" cy="549275"/>
          </a:xfrm>
          <a:prstGeom prst="ellipse">
            <a:avLst/>
          </a:prstGeom>
          <a:solidFill>
            <a:srgbClr val="E5E5E0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83901" y="2601913"/>
            <a:ext cx="247148" cy="24715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532894" y="3177480"/>
            <a:ext cx="3125908" cy="2860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Loyalty Programs</a:t>
            </a:r>
            <a:endParaRPr lang="en-US" sz="1800" dirty="0"/>
          </a:p>
        </p:txBody>
      </p:sp>
      <p:sp>
        <p:nvSpPr>
          <p:cNvPr id="13" name="Text 9"/>
          <p:cNvSpPr/>
          <p:nvPr/>
        </p:nvSpPr>
        <p:spPr>
          <a:xfrm>
            <a:off x="4532894" y="3569891"/>
            <a:ext cx="3125908" cy="5768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140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Reward repeat buyers to grow the Loyal segment.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8025505" y="2261493"/>
            <a:ext cx="3504715" cy="2074664"/>
          </a:xfrm>
          <a:prstGeom prst="roundRect">
            <a:avLst>
              <a:gd name="adj" fmla="val 3707"/>
            </a:avLst>
          </a:prstGeom>
          <a:solidFill>
            <a:srgbClr val="E8E8E3"/>
          </a:solidFill>
          <a:ln w="6350">
            <a:solidFill>
              <a:srgbClr val="CECEC9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8214909" y="2450902"/>
            <a:ext cx="549261" cy="549275"/>
          </a:xfrm>
          <a:prstGeom prst="ellipse">
            <a:avLst/>
          </a:prstGeom>
          <a:solidFill>
            <a:srgbClr val="E5E5E0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365916" y="2601913"/>
            <a:ext cx="247148" cy="24715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214909" y="3177480"/>
            <a:ext cx="3125908" cy="2860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Review Discount Policy</a:t>
            </a:r>
            <a:endParaRPr lang="en-US" sz="1800" dirty="0"/>
          </a:p>
        </p:txBody>
      </p:sp>
      <p:sp>
        <p:nvSpPr>
          <p:cNvPr id="18" name="Text 13"/>
          <p:cNvSpPr/>
          <p:nvPr/>
        </p:nvSpPr>
        <p:spPr>
          <a:xfrm>
            <a:off x="8214909" y="3569891"/>
            <a:ext cx="3125908" cy="2884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140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Balance sales lifts with margin control.</a:t>
            </a:r>
            <a:endParaRPr lang="en-US" sz="1400" dirty="0"/>
          </a:p>
        </p:txBody>
      </p:sp>
      <p:sp>
        <p:nvSpPr>
          <p:cNvPr id="19" name="Shape 14"/>
          <p:cNvSpPr/>
          <p:nvPr/>
        </p:nvSpPr>
        <p:spPr>
          <a:xfrm>
            <a:off x="661475" y="4513461"/>
            <a:ext cx="5345673" cy="1786235"/>
          </a:xfrm>
          <a:prstGeom prst="roundRect">
            <a:avLst>
              <a:gd name="adj" fmla="val 4306"/>
            </a:avLst>
          </a:prstGeom>
          <a:solidFill>
            <a:srgbClr val="E8E8E3"/>
          </a:solidFill>
          <a:ln w="6350">
            <a:solidFill>
              <a:srgbClr val="CECEC9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850879" y="4702870"/>
            <a:ext cx="549261" cy="549275"/>
          </a:xfrm>
          <a:prstGeom prst="ellipse">
            <a:avLst/>
          </a:prstGeom>
          <a:solidFill>
            <a:srgbClr val="E5E5E0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001886" y="4853880"/>
            <a:ext cx="247148" cy="247154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850879" y="5429448"/>
            <a:ext cx="4966866" cy="2860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Targeted Marketing</a:t>
            </a:r>
            <a:endParaRPr lang="en-US" sz="1800" dirty="0"/>
          </a:p>
        </p:txBody>
      </p:sp>
      <p:sp>
        <p:nvSpPr>
          <p:cNvPr id="23" name="Text 17"/>
          <p:cNvSpPr/>
          <p:nvPr/>
        </p:nvSpPr>
        <p:spPr>
          <a:xfrm>
            <a:off x="850879" y="5821859"/>
            <a:ext cx="4966866" cy="2884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140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Focus on high-revenue age groups and express-shipping users.</a:t>
            </a:r>
            <a:endParaRPr lang="en-US" sz="1400" dirty="0"/>
          </a:p>
        </p:txBody>
      </p:sp>
      <p:sp>
        <p:nvSpPr>
          <p:cNvPr id="24" name="Shape 18"/>
          <p:cNvSpPr/>
          <p:nvPr/>
        </p:nvSpPr>
        <p:spPr>
          <a:xfrm>
            <a:off x="6184448" y="4513461"/>
            <a:ext cx="5345773" cy="1786235"/>
          </a:xfrm>
          <a:prstGeom prst="roundRect">
            <a:avLst>
              <a:gd name="adj" fmla="val 4306"/>
            </a:avLst>
          </a:prstGeom>
          <a:solidFill>
            <a:srgbClr val="E8E8E3"/>
          </a:solidFill>
          <a:ln w="6350">
            <a:solidFill>
              <a:srgbClr val="CECEC9"/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6373851" y="4702870"/>
            <a:ext cx="549261" cy="549275"/>
          </a:xfrm>
          <a:prstGeom prst="ellipse">
            <a:avLst/>
          </a:prstGeom>
          <a:solidFill>
            <a:srgbClr val="E5E5E0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524859" y="4853880"/>
            <a:ext cx="247148" cy="247154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6373851" y="5429448"/>
            <a:ext cx="4966965" cy="2860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Product Positioning</a:t>
            </a:r>
            <a:endParaRPr lang="en-US" sz="1800" dirty="0"/>
          </a:p>
        </p:txBody>
      </p:sp>
      <p:sp>
        <p:nvSpPr>
          <p:cNvPr id="28" name="Text 21"/>
          <p:cNvSpPr/>
          <p:nvPr/>
        </p:nvSpPr>
        <p:spPr>
          <a:xfrm>
            <a:off x="6373851" y="5821859"/>
            <a:ext cx="4966965" cy="2884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140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Highlight top-rated and best-selling products in campaigns.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2026-09-23T19:14:27Z</dcterms:created>
  <dcterms:modified xsi:type="dcterms:W3CDTF">2026-09-23T19:14:27Z</dcterms:modified>
</cp:coreProperties>
</file>